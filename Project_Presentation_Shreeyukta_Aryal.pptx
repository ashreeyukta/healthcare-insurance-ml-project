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57" r:id="rId4"/>
    <p:sldId id="258" r:id="rId5"/>
    <p:sldId id="260" r:id="rId6"/>
    <p:sldId id="261" r:id="rId7"/>
    <p:sldId id="281" r:id="rId8"/>
    <p:sldId id="263" r:id="rId9"/>
    <p:sldId id="265" r:id="rId10"/>
    <p:sldId id="267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58"/>
    <p:restoredTop sz="94658"/>
  </p:normalViewPr>
  <p:slideViewPr>
    <p:cSldViewPr snapToGrid="0">
      <p:cViewPr varScale="1">
        <p:scale>
          <a:sx n="105" d="100"/>
          <a:sy n="105" d="100"/>
        </p:scale>
        <p:origin x="20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E8D5E-4045-E646-9D16-BBE1F7C2812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CC86D-B4EF-B542-BACF-2597DC0E5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1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CC86D-B4EF-B542-BACF-2597DC0E50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71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CC86D-B4EF-B542-BACF-2597DC0E50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76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CC86D-B4EF-B542-BACF-2597DC0E50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15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CC86D-B4EF-B542-BACF-2597DC0E50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98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CC86D-B4EF-B542-BACF-2597DC0E50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EBAD-7681-9052-7131-E732A8879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1207F-1097-B814-FBDF-C1B89FFFE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31F3F-D760-BBCF-EB73-ED050EFF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6FADB-9462-5136-EB92-F882DBF2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ECE2B-A3AA-2EA9-6509-468355FC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1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6032-FF63-7FD2-39B3-757210DF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AD69E-6299-A210-A034-63A0D2B0D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94D38-1CFE-4212-04A6-586D4915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57A97-D699-EDE6-BD9C-67FF357A6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FCFA8-F418-BA92-A6BC-BD19E22F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7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22C2-08B4-BF4F-56ED-12EEFC79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AB586-20B3-EC2A-616B-6DFF9B0D6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8FB62-67EB-E5A1-241C-1CA374FE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D9EE-E0B0-8561-8497-F1BFD93D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2781-4A72-427B-A9B6-D8A21691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4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2384-36C0-FC39-7BF4-1E9B6D4B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53D5-4F2C-287C-081B-C282CB6A3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945BC-00E7-B409-F322-4AA6B7228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8ED53-FB03-32A6-CBC7-D55560AC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B5A27-ACB4-4617-26AF-B69B6EBF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0E35A-15FA-2271-A712-72B7F67E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2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FEAD-5D28-EB12-8DFB-68A97F6E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AC51C-26EE-A583-8809-DC8E781F8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F27FE-C889-E0E8-6A5D-44024C6CA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E4E95-0BE2-38FF-F435-8D34306EC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24DB5-C3EB-A684-9EB5-8E4A6BDFC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C3D42E-0AC8-B4C6-E2EC-8CC7EED3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361CB-8D8C-7652-D1A0-8CAF0721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1AD71-69D5-902A-26C5-CA2276BE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5839-A86C-FB36-DBA4-EA133D08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286A2-BAF7-69DD-3B3B-9C392B8E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16B8D-B3A7-C831-0E4A-2BF60D6C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39366-98EE-CB31-1800-B86D2C0C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0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FC9BF-FC0A-19A3-47CD-33E0A9D2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F5AB9-6C89-18EB-D526-15D30684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C85DD-E274-8AF5-125E-1A7B2816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1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2A93-1F51-660B-1928-5DE9D4B8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6AADA-93EE-C7F3-F865-2002B9436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C5A35-DBA2-5490-74C9-ECCFCE932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1E94E-402A-2E3E-ECD0-108F4C35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EF6F1-7B0F-53FC-7440-770A197D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1F7B6-D29D-934B-459E-5FC03D9B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9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8D06-6484-2EE2-E2F7-4683DA61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08F9BE-4EBF-B02A-527A-A597FD6D3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FD416-6705-AAD8-FFD5-77A5E835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AD243-D6BD-D5CF-36AC-AF180214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8AFD2-D186-F2DF-D021-84326AF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BE15B-5D1E-3149-4E01-E09D3646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2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2919-0625-3014-954E-6643E04A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1CB0C-D40B-3B27-E2FF-A090C85BB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B5AD6-2F98-920B-B388-E2D52FF6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744F2-21AE-8D63-EA06-1FD436AC7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4A23-2C8B-98E9-A56C-690E7C04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7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0F1E75-D0A1-0C07-A810-4D54E1684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61056-0666-A54A-836A-9784E431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17339-1DED-3274-9803-90BD4870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2C9E-21E0-E9B9-7E84-F90BAFE2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18792-D86E-3884-22A5-E83C7245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2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23514-5967-F6DE-ACFA-19915ED5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C3EE4-CF2B-E8A9-4DB8-68131EAE1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C144-C38F-7CEE-9734-6067B0B2E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BDE87-9E1F-6C44-BBD1-1A5F6FC61185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BD916-BCE5-4426-8DAD-D6A12CAA3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36AFC-6F8E-359E-355C-5A2CAAB78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2D50A-D1F8-1E43-B44D-4B7BD1C9F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8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0925A-7023-A6CA-E8D8-3712179B3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858" y="728662"/>
            <a:ext cx="4412342" cy="3728853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Predicting Healthcare Insurance costs and Risk Categories Using Machine Learning</a:t>
            </a:r>
            <a:br>
              <a:rPr lang="en-US" sz="3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32281-2823-9C2F-8785-3656B03C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7191" y="4155843"/>
            <a:ext cx="3465161" cy="603343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- Shreeyukta Aryal</a:t>
            </a:r>
          </a:p>
        </p:txBody>
      </p:sp>
      <p:pic>
        <p:nvPicPr>
          <p:cNvPr id="47" name="Picture 46" descr="A computer on a desk with a city view in the background&#10;&#10;AI-generated content may be incorrect.">
            <a:extLst>
              <a:ext uri="{FF2B5EF4-FFF2-40B4-BE49-F238E27FC236}">
                <a16:creationId xmlns:a16="http://schemas.microsoft.com/office/drawing/2014/main" id="{F5471C35-E247-8A56-ED1F-2595EB35B1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9" r="15441" b="-1"/>
          <a:stretch>
            <a:fillRect/>
          </a:stretch>
        </p:blipFill>
        <p:spPr>
          <a:xfrm>
            <a:off x="5009505" y="10"/>
            <a:ext cx="7182495" cy="685799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744B981-AECF-0F45-6E49-59D9232C019D}"/>
              </a:ext>
            </a:extLst>
          </p:cNvPr>
          <p:cNvSpPr txBox="1"/>
          <p:nvPr/>
        </p:nvSpPr>
        <p:spPr>
          <a:xfrm>
            <a:off x="1655379" y="43985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4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DA59-C272-DADC-AD30-3DDE7670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10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Introduction, Purpose &amp; Aim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E4BB158C-F9CF-B94E-B116-D3D21E6C1DDB}"/>
              </a:ext>
            </a:extLst>
          </p:cNvPr>
          <p:cNvSpPr>
            <a:spLocks/>
          </p:cNvSpPr>
          <p:nvPr/>
        </p:nvSpPr>
        <p:spPr>
          <a:xfrm>
            <a:off x="881493" y="1989864"/>
            <a:ext cx="3090565" cy="3521174"/>
          </a:xfrm>
          <a:prstGeom prst="roundRect">
            <a:avLst>
              <a:gd name="adj" fmla="val 2569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EE302866-80B0-ED5F-58CD-64D03C2A3642}"/>
              </a:ext>
            </a:extLst>
          </p:cNvPr>
          <p:cNvSpPr/>
          <p:nvPr/>
        </p:nvSpPr>
        <p:spPr>
          <a:xfrm>
            <a:off x="1259120" y="224511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Introduction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93FDC47-B584-3459-BF4E-0032D5C6BB89}"/>
              </a:ext>
            </a:extLst>
          </p:cNvPr>
          <p:cNvSpPr/>
          <p:nvPr/>
        </p:nvSpPr>
        <p:spPr>
          <a:xfrm>
            <a:off x="1065147" y="2737001"/>
            <a:ext cx="2699842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Health insurance costs vary significantly based on demographics, lifestyle choices, and underlying health risks. Machine learning enables data-driven prediction and classification to improve risk assessment and pricing strategies.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C88DA70-1166-19F1-1357-6E367691B7C7}"/>
              </a:ext>
            </a:extLst>
          </p:cNvPr>
          <p:cNvSpPr>
            <a:spLocks/>
          </p:cNvSpPr>
          <p:nvPr/>
        </p:nvSpPr>
        <p:spPr>
          <a:xfrm>
            <a:off x="4530560" y="1989864"/>
            <a:ext cx="3090565" cy="3521174"/>
          </a:xfrm>
          <a:prstGeom prst="roundRect">
            <a:avLst>
              <a:gd name="adj" fmla="val 2569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b="1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8CE5AF8-80DF-F8FD-AB4F-EB2BCA07C334}"/>
              </a:ext>
            </a:extLst>
          </p:cNvPr>
          <p:cNvSpPr/>
          <p:nvPr/>
        </p:nvSpPr>
        <p:spPr>
          <a:xfrm>
            <a:off x="4729097" y="2221862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Purpose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E7BC485-CD87-2EC6-F29B-056C7498640C}"/>
              </a:ext>
            </a:extLst>
          </p:cNvPr>
          <p:cNvSpPr/>
          <p:nvPr/>
        </p:nvSpPr>
        <p:spPr>
          <a:xfrm>
            <a:off x="4725921" y="2731939"/>
            <a:ext cx="2699842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Analyze factors influencing insurance charges through regression modeling for cost prediction and classification for risk tier assignment. Compare performance of multiple ML models.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0867E5FE-C10D-FE69-4E29-7EC7290F81CC}"/>
              </a:ext>
            </a:extLst>
          </p:cNvPr>
          <p:cNvSpPr>
            <a:spLocks/>
          </p:cNvSpPr>
          <p:nvPr/>
        </p:nvSpPr>
        <p:spPr>
          <a:xfrm>
            <a:off x="8177247" y="1989864"/>
            <a:ext cx="3090664" cy="3521174"/>
          </a:xfrm>
          <a:prstGeom prst="roundRect">
            <a:avLst>
              <a:gd name="adj" fmla="val 2569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44EC176-C53C-EFD5-AB11-314CC7FF6709}"/>
              </a:ext>
            </a:extLst>
          </p:cNvPr>
          <p:cNvSpPr/>
          <p:nvPr/>
        </p:nvSpPr>
        <p:spPr>
          <a:xfrm>
            <a:off x="8541230" y="2221862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Aim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2E8358D5-49A9-D415-331E-C2170C733F1A}"/>
              </a:ext>
            </a:extLst>
          </p:cNvPr>
          <p:cNvSpPr/>
          <p:nvPr/>
        </p:nvSpPr>
        <p:spPr>
          <a:xfrm>
            <a:off x="8426912" y="2731939"/>
            <a:ext cx="2699941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Identify the most accurate and reliable model while evaluating the impact of feature engineering, data transformation, and advanced ensemble methods for better insurance analytics decision-making.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87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22BE-C556-910B-A5B3-4DE58495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Data Preparation &amp; Initial Inspection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7D45783A-469E-71BD-39D2-1858D006B260}"/>
              </a:ext>
            </a:extLst>
          </p:cNvPr>
          <p:cNvSpPr>
            <a:spLocks/>
          </p:cNvSpPr>
          <p:nvPr/>
        </p:nvSpPr>
        <p:spPr>
          <a:xfrm>
            <a:off x="724903" y="1730719"/>
            <a:ext cx="5326895" cy="2076450"/>
          </a:xfrm>
          <a:prstGeom prst="roundRect">
            <a:avLst>
              <a:gd name="adj" fmla="val 9349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7E7589A6-99D9-E7AA-65C7-D5466A3CCAE1}"/>
              </a:ext>
            </a:extLst>
          </p:cNvPr>
          <p:cNvSpPr/>
          <p:nvPr/>
        </p:nvSpPr>
        <p:spPr>
          <a:xfrm>
            <a:off x="980230" y="1969687"/>
            <a:ext cx="5071568" cy="156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Dataset loaded from CSV with 1,338 initial records cleaned to 1,335 observations. Contains 12 variables covering demographics, health metrics, and insurance charges.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0C709B0E-ADDC-A001-CB25-C835245768BA}"/>
              </a:ext>
            </a:extLst>
          </p:cNvPr>
          <p:cNvSpPr>
            <a:spLocks/>
          </p:cNvSpPr>
          <p:nvPr/>
        </p:nvSpPr>
        <p:spPr>
          <a:xfrm>
            <a:off x="679478" y="4120144"/>
            <a:ext cx="5416522" cy="2223506"/>
          </a:xfrm>
          <a:prstGeom prst="roundRect">
            <a:avLst>
              <a:gd name="adj" fmla="val 9568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EB41C3C1-2D9E-DF09-DC24-042BE9C1FAEC}"/>
              </a:ext>
            </a:extLst>
          </p:cNvPr>
          <p:cNvSpPr/>
          <p:nvPr/>
        </p:nvSpPr>
        <p:spPr>
          <a:xfrm>
            <a:off x="939876" y="426927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Data Inspection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C7A38CCF-8739-9BB7-961B-348E6C6ABB5E}"/>
              </a:ext>
            </a:extLst>
          </p:cNvPr>
          <p:cNvSpPr/>
          <p:nvPr/>
        </p:nvSpPr>
        <p:spPr>
          <a:xfrm>
            <a:off x="980230" y="4753713"/>
            <a:ext cx="4644684" cy="148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Verified data types and structure, identified missing</a:t>
            </a:r>
          </a:p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values in age, BMI, and children variables. Removed incomplete rows using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dropna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(), resulting in 1,335 clean observations.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C05BBA13-753A-3307-47B2-B7FE2099A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"/>
          <a:stretch>
            <a:fillRect/>
          </a:stretch>
        </p:blipFill>
        <p:spPr>
          <a:xfrm>
            <a:off x="6361826" y="2258738"/>
            <a:ext cx="4946674" cy="3297447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B4F633C7-18FD-35D2-1898-2B42912796E4}"/>
              </a:ext>
            </a:extLst>
          </p:cNvPr>
          <p:cNvSpPr/>
          <p:nvPr/>
        </p:nvSpPr>
        <p:spPr>
          <a:xfrm>
            <a:off x="980230" y="1826303"/>
            <a:ext cx="2448474" cy="45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Data Overview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46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C991-7DBD-DBD4-866E-4084BC6E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798"/>
            <a:ext cx="10515600" cy="77242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5" name="Picture 4" descr="A group of blue boxes with white text&#10;&#10;AI-generated content may be incorrect.">
            <a:extLst>
              <a:ext uri="{FF2B5EF4-FFF2-40B4-BE49-F238E27FC236}">
                <a16:creationId xmlns:a16="http://schemas.microsoft.com/office/drawing/2014/main" id="{A6D4B9D2-012C-C281-B8A5-D93C951F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929" y="1178224"/>
            <a:ext cx="5120229" cy="5181835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DC1AF5C3-FDE1-31F2-FEBB-6A6838B57B4D}"/>
              </a:ext>
            </a:extLst>
          </p:cNvPr>
          <p:cNvSpPr/>
          <p:nvPr/>
        </p:nvSpPr>
        <p:spPr>
          <a:xfrm>
            <a:off x="5853516" y="1178224"/>
            <a:ext cx="5071568" cy="88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600" dirty="0">
              <a:solidFill>
                <a:srgbClr val="000000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095BE67D-1841-BA66-3547-AA47693AF054}"/>
              </a:ext>
            </a:extLst>
          </p:cNvPr>
          <p:cNvSpPr>
            <a:spLocks/>
          </p:cNvSpPr>
          <p:nvPr/>
        </p:nvSpPr>
        <p:spPr>
          <a:xfrm>
            <a:off x="838200" y="1156626"/>
            <a:ext cx="5257800" cy="5313110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FDCD77A-6C5E-71CB-93E2-D1C7A771E3DC}"/>
              </a:ext>
            </a:extLst>
          </p:cNvPr>
          <p:cNvSpPr/>
          <p:nvPr/>
        </p:nvSpPr>
        <p:spPr>
          <a:xfrm>
            <a:off x="1132802" y="1278468"/>
            <a:ext cx="4778467" cy="519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Main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Average age: 39 years; average BMI: 30.7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Insurance charges are highly variable, ranging up to about $63K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Most individuals are non-smokers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Most common region: Southeast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Most common occupation risk: Moderate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Visual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Histograms show that charges is strongly right-skewed.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Boxplots confirm outliers in charges and BMI-related variables.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Other variables such as age, blood pressure, and income are more 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EDA shows that insurance charges contain skewness and outliers, which supports using log transformation and robust preprocessing before modeling.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06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F686-1934-0D44-FB4B-36B4ED3C2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442047"/>
            <a:ext cx="10515600" cy="79863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Relationships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heatmap&#10;&#10;AI-generated content may be incorrect.">
            <a:extLst>
              <a:ext uri="{FF2B5EF4-FFF2-40B4-BE49-F238E27FC236}">
                <a16:creationId xmlns:a16="http://schemas.microsoft.com/office/drawing/2014/main" id="{532830B1-AD54-1E26-EB91-9E636C858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715" y="1690688"/>
            <a:ext cx="5999558" cy="4615244"/>
          </a:xfrm>
          <a:prstGeom prst="rect">
            <a:avLst/>
          </a:prstGeom>
        </p:spPr>
      </p:pic>
      <p:sp>
        <p:nvSpPr>
          <p:cNvPr id="22" name="Shape 2">
            <a:extLst>
              <a:ext uri="{FF2B5EF4-FFF2-40B4-BE49-F238E27FC236}">
                <a16:creationId xmlns:a16="http://schemas.microsoft.com/office/drawing/2014/main" id="{E9B2BE05-4BC1-9B97-2A81-36A03AA7BBA6}"/>
              </a:ext>
            </a:extLst>
          </p:cNvPr>
          <p:cNvSpPr>
            <a:spLocks/>
          </p:cNvSpPr>
          <p:nvPr/>
        </p:nvSpPr>
        <p:spPr>
          <a:xfrm>
            <a:off x="838200" y="1240686"/>
            <a:ext cx="4880429" cy="5252189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42F104D-ECE2-018F-1045-D70962DA0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1861" y="1240686"/>
            <a:ext cx="4703854" cy="498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 vs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0.89 → log transformation preserves pattern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smoker_binary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bmi_smoker_interaction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strong positive relationship with charges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vs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age_bp_risk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0.98 → confirms engineered feature design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annual_income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charges: ~0.00 → negligible impact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blood_pressure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charges: -0.04 → weak relationship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costs are primarily driven by smoking behavior and age-related risk, not income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295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CF7CC-BB66-9C61-26C9-C6FA2562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28" y="24189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Skewness: Log Transformation</a:t>
            </a:r>
          </a:p>
        </p:txBody>
      </p:sp>
      <p:pic>
        <p:nvPicPr>
          <p:cNvPr id="5" name="Picture 4" descr="A graph of a distribution of charge&#10;&#10;AI-generated content may be incorrect.">
            <a:extLst>
              <a:ext uri="{FF2B5EF4-FFF2-40B4-BE49-F238E27FC236}">
                <a16:creationId xmlns:a16="http://schemas.microsoft.com/office/drawing/2014/main" id="{1786474A-0FA3-A5F2-4FA5-FA15F406F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0"/>
          <a:stretch>
            <a:fillRect/>
          </a:stretch>
        </p:blipFill>
        <p:spPr>
          <a:xfrm>
            <a:off x="6845442" y="1237178"/>
            <a:ext cx="3815977" cy="2716607"/>
          </a:xfrm>
          <a:prstGeom prst="rect">
            <a:avLst/>
          </a:prstGeom>
        </p:spPr>
      </p:pic>
      <p:pic>
        <p:nvPicPr>
          <p:cNvPr id="7" name="Picture 6" descr="A graph of a distribution of a log-transformed charges&#10;&#10;AI-generated content may be incorrect.">
            <a:extLst>
              <a:ext uri="{FF2B5EF4-FFF2-40B4-BE49-F238E27FC236}">
                <a16:creationId xmlns:a16="http://schemas.microsoft.com/office/drawing/2014/main" id="{E7CA753C-D61D-AA56-0221-7A0C31BB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780" y="3953785"/>
            <a:ext cx="3815977" cy="2712683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60A53363-DEAD-4115-D4AD-44B49D797681}"/>
              </a:ext>
            </a:extLst>
          </p:cNvPr>
          <p:cNvSpPr>
            <a:spLocks/>
          </p:cNvSpPr>
          <p:nvPr/>
        </p:nvSpPr>
        <p:spPr>
          <a:xfrm>
            <a:off x="861472" y="1445212"/>
            <a:ext cx="4941642" cy="1687476"/>
          </a:xfrm>
          <a:prstGeom prst="roundRect">
            <a:avLst>
              <a:gd name="adj" fmla="val 2569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4A27987-8905-861C-C369-1D53D81A5D7E}"/>
              </a:ext>
            </a:extLst>
          </p:cNvPr>
          <p:cNvSpPr/>
          <p:nvPr/>
        </p:nvSpPr>
        <p:spPr>
          <a:xfrm>
            <a:off x="861472" y="152273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Transformation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6E992A4-C28A-165F-897E-760F664C0197}"/>
              </a:ext>
            </a:extLst>
          </p:cNvPr>
          <p:cNvSpPr/>
          <p:nvPr/>
        </p:nvSpPr>
        <p:spPr>
          <a:xfrm>
            <a:off x="1018692" y="1934380"/>
            <a:ext cx="4581464" cy="129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 range: $1,121 → $63,770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right-skewed distribution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Mean: 13,255 vs Median: 9,378 → strong skew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extreme high-cost outliers 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52CBFA9B-7406-C9C8-A58D-C6F46E0A259C}"/>
              </a:ext>
            </a:extLst>
          </p:cNvPr>
          <p:cNvSpPr>
            <a:spLocks/>
          </p:cNvSpPr>
          <p:nvPr/>
        </p:nvSpPr>
        <p:spPr>
          <a:xfrm>
            <a:off x="861473" y="3369089"/>
            <a:ext cx="4941641" cy="1618350"/>
          </a:xfrm>
          <a:prstGeom prst="roundRect">
            <a:avLst>
              <a:gd name="adj" fmla="val 2569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499B6607-CD4A-D9EB-5303-561E2DDA5DC6}"/>
              </a:ext>
            </a:extLst>
          </p:cNvPr>
          <p:cNvSpPr/>
          <p:nvPr/>
        </p:nvSpPr>
        <p:spPr>
          <a:xfrm>
            <a:off x="905950" y="3429791"/>
            <a:ext cx="2362696" cy="23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Transformation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956E5A08-C9FB-D48D-D6B5-5572A9D07195}"/>
              </a:ext>
            </a:extLst>
          </p:cNvPr>
          <p:cNvSpPr/>
          <p:nvPr/>
        </p:nvSpPr>
        <p:spPr>
          <a:xfrm>
            <a:off x="1014188" y="3816143"/>
            <a:ext cx="4585968" cy="124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range: 7.0 → 11.0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becomes approximately normal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impact of extreme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stability for regression models </a:t>
            </a: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A91C54BB-63A5-B6B8-A8C1-7325F25DF9CD}"/>
              </a:ext>
            </a:extLst>
          </p:cNvPr>
          <p:cNvSpPr>
            <a:spLocks/>
          </p:cNvSpPr>
          <p:nvPr/>
        </p:nvSpPr>
        <p:spPr>
          <a:xfrm>
            <a:off x="861472" y="5173243"/>
            <a:ext cx="4941641" cy="1325563"/>
          </a:xfrm>
          <a:prstGeom prst="roundRect">
            <a:avLst>
              <a:gd name="adj" fmla="val 2569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74C92F5C-E31E-D929-6B03-E3D0343A21B0}"/>
              </a:ext>
            </a:extLst>
          </p:cNvPr>
          <p:cNvSpPr/>
          <p:nvPr/>
        </p:nvSpPr>
        <p:spPr>
          <a:xfrm>
            <a:off x="1014188" y="5646946"/>
            <a:ext cx="4585968" cy="74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 reduces skewness and helps models learn  better patterns without being dominated by outliers</a:t>
            </a: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49B8B055-ADB8-B32C-1DAB-5F8A692A0212}"/>
              </a:ext>
            </a:extLst>
          </p:cNvPr>
          <p:cNvSpPr/>
          <p:nvPr/>
        </p:nvSpPr>
        <p:spPr>
          <a:xfrm>
            <a:off x="814928" y="5237990"/>
            <a:ext cx="1983327" cy="256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</p:spTree>
    <p:extLst>
      <p:ext uri="{BB962C8B-B14F-4D97-AF65-F5344CB8AC3E}">
        <p14:creationId xmlns:p14="http://schemas.microsoft.com/office/powerpoint/2010/main" val="304267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A95DA-F59E-6309-F776-FACB24C3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96B0-5A44-AFFA-A4C7-36D1781E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Modeling Setup</a:t>
            </a:r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0BD2D1A-85DC-67F2-FCD9-A4DA475DC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69" y="1649265"/>
            <a:ext cx="5743066" cy="40919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5AC110-FCAC-672D-1479-7EEE791FBB37}"/>
              </a:ext>
            </a:extLst>
          </p:cNvPr>
          <p:cNvSpPr txBox="1"/>
          <p:nvPr/>
        </p:nvSpPr>
        <p:spPr>
          <a:xfrm>
            <a:off x="5818998" y="51443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B3126A86-802E-C7FD-45C4-C3AD7E7AF301}"/>
              </a:ext>
            </a:extLst>
          </p:cNvPr>
          <p:cNvSpPr>
            <a:spLocks/>
          </p:cNvSpPr>
          <p:nvPr/>
        </p:nvSpPr>
        <p:spPr>
          <a:xfrm>
            <a:off x="679261" y="1181163"/>
            <a:ext cx="5281072" cy="5355194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2375CC5-780C-54B4-1C4F-BE1377F84CE1}"/>
              </a:ext>
            </a:extLst>
          </p:cNvPr>
          <p:cNvSpPr/>
          <p:nvPr/>
        </p:nvSpPr>
        <p:spPr>
          <a:xfrm>
            <a:off x="982664" y="1301590"/>
            <a:ext cx="4928699" cy="511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Tier Creation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Quantile-based classification of charges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dataset: Low: 445, Medium: 445 , High: 445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Setup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target: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target: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risk_tier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 70% train / 15% validation / 15% test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Numeric: median imputation + scaling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Categorical: most frequent imputation + one-hot encoding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Balanced, feature-enhanced dataset optimized for modeling.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58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4778-14C6-B3E8-2611-EAAAB051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557" y="365125"/>
            <a:ext cx="11504800" cy="1325563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 Dimensionality Reduction</a:t>
            </a:r>
            <a:b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a number of components&#10;&#10;AI-generated content may be incorrect.">
            <a:extLst>
              <a:ext uri="{FF2B5EF4-FFF2-40B4-BE49-F238E27FC236}">
                <a16:creationId xmlns:a16="http://schemas.microsoft.com/office/drawing/2014/main" id="{8E75CC34-00D7-16F5-0B0E-9FA592323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966" y="1948070"/>
            <a:ext cx="6032391" cy="39505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A4B02F-D6DC-31A9-6B6E-A50BAD6AFA21}"/>
              </a:ext>
            </a:extLst>
          </p:cNvPr>
          <p:cNvSpPr txBox="1"/>
          <p:nvPr/>
        </p:nvSpPr>
        <p:spPr>
          <a:xfrm>
            <a:off x="516835" y="51683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97A680E7-14CA-1122-486E-832A55349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1566" y="1481482"/>
            <a:ext cx="5257800" cy="4938827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650512B6-0257-E100-DF29-F803C7F1C2B6}"/>
              </a:ext>
            </a:extLst>
          </p:cNvPr>
          <p:cNvSpPr/>
          <p:nvPr/>
        </p:nvSpPr>
        <p:spPr>
          <a:xfrm>
            <a:off x="1026244" y="1690688"/>
            <a:ext cx="4745077" cy="4729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5 components ~88% of variance.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6 components ~95%+ of variance.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reduced model dimensions from 25 → 14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vs Original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features achieve R² = 0.855 while PCA features achieve R² = 0.841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reduces complexity with minimal performance loss, but original features perform slightly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997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4D25-4600-4F0F-6752-122A07B6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 Performance</a:t>
            </a:r>
          </a:p>
        </p:txBody>
      </p:sp>
      <p:pic>
        <p:nvPicPr>
          <p:cNvPr id="4" name="Content Placeholder 4" descr="A table with numbers and a number on it&#10;&#10;AI-generated content may be incorrect.">
            <a:extLst>
              <a:ext uri="{FF2B5EF4-FFF2-40B4-BE49-F238E27FC236}">
                <a16:creationId xmlns:a16="http://schemas.microsoft.com/office/drawing/2014/main" id="{4A355760-794A-2B22-CBB8-9ADB7A206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247" y="1603697"/>
            <a:ext cx="3318853" cy="1956039"/>
          </a:xfrm>
          <a:prstGeom prst="rect">
            <a:avLst/>
          </a:prstGeom>
        </p:spPr>
      </p:pic>
      <p:pic>
        <p:nvPicPr>
          <p:cNvPr id="6" name="Picture 5" descr="A graph of a graph with blue rectangular bars&#10;&#10;AI-generated content may be incorrect.">
            <a:extLst>
              <a:ext uri="{FF2B5EF4-FFF2-40B4-BE49-F238E27FC236}">
                <a16:creationId xmlns:a16="http://schemas.microsoft.com/office/drawing/2014/main" id="{68B1CFB9-4DD0-2734-E547-486BB0BAC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549" y="3744237"/>
            <a:ext cx="4524251" cy="3048169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BD88473A-9732-EE5B-3BD6-040EEBF9B825}"/>
              </a:ext>
            </a:extLst>
          </p:cNvPr>
          <p:cNvSpPr>
            <a:spLocks/>
          </p:cNvSpPr>
          <p:nvPr/>
        </p:nvSpPr>
        <p:spPr>
          <a:xfrm>
            <a:off x="815661" y="1399276"/>
            <a:ext cx="5586480" cy="5021354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E36EBB9-E66F-10FE-841F-D40F29A420A3}"/>
              </a:ext>
            </a:extLst>
          </p:cNvPr>
          <p:cNvSpPr/>
          <p:nvPr/>
        </p:nvSpPr>
        <p:spPr>
          <a:xfrm>
            <a:off x="1121803" y="1506264"/>
            <a:ext cx="4974197" cy="444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Tested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Regression, Ridge, Lasso, SVR ( Support Vector Regression)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MAE, RMSE, R², 5-fold CV R²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Insight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Linear/Ridge have the highest mean CV R²: ~0.770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 has the best test R²: 0.855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performs weakest overall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 captures non-linear relationships best on the test set, while Ridge/Linear show strong stability in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1106924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F4A1-0CE1-7183-4E59-F9C1C9DC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144" y="28390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 Performance</a:t>
            </a:r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22BA7F31-6ECC-7171-8B96-824D485B1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9470"/>
            <a:ext cx="5366288" cy="1654874"/>
          </a:xfrm>
          <a:prstGeom prst="rect">
            <a:avLst/>
          </a:prstGeom>
        </p:spPr>
      </p:pic>
      <p:pic>
        <p:nvPicPr>
          <p:cNvPr id="7" name="Picture 6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302451B5-FF0F-9FBD-BD99-7C628CB67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627" y="3264344"/>
            <a:ext cx="4789034" cy="3248327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07CC01D8-D453-4D63-971A-E24F8E57C974}"/>
              </a:ext>
            </a:extLst>
          </p:cNvPr>
          <p:cNvSpPr>
            <a:spLocks/>
          </p:cNvSpPr>
          <p:nvPr/>
        </p:nvSpPr>
        <p:spPr>
          <a:xfrm>
            <a:off x="811471" y="1578826"/>
            <a:ext cx="5140215" cy="4872528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64A08D4-144D-680B-43B8-10A2886BCE7F}"/>
              </a:ext>
            </a:extLst>
          </p:cNvPr>
          <p:cNvSpPr/>
          <p:nvPr/>
        </p:nvSpPr>
        <p:spPr>
          <a:xfrm>
            <a:off x="1018339" y="1745959"/>
            <a:ext cx="4899149" cy="453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Tested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(Support Vector Machine) with RBF kernel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(Multi-Layer Perception Neural Network)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Insight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training accuracy increases to about 93%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 stabilizes around 86 - 87%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gap suggests mild overfitting, but not severe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performs best overall, while MLP shows strong learning behavior but slightly lower validation/test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034079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B548-395D-40B4-27C2-60886AA6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5" y="231479"/>
            <a:ext cx="10515600" cy="117759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– Confusion Matrix Analysis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logistic regression&#10;&#10;AI-generated content may be incorrect.">
            <a:extLst>
              <a:ext uri="{FF2B5EF4-FFF2-40B4-BE49-F238E27FC236}">
                <a16:creationId xmlns:a16="http://schemas.microsoft.com/office/drawing/2014/main" id="{6F7C355A-A6DD-4A37-27EB-971C78668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875" y="1159223"/>
            <a:ext cx="3443960" cy="2792641"/>
          </a:xfrm>
          <a:prstGeom prst="rect">
            <a:avLst/>
          </a:prstGeom>
        </p:spPr>
      </p:pic>
      <p:pic>
        <p:nvPicPr>
          <p:cNvPr id="9" name="Picture 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A6EF9079-DBF9-691D-27BC-E62DB217B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835" y="1443561"/>
            <a:ext cx="3135362" cy="2365999"/>
          </a:xfrm>
          <a:prstGeom prst="rect">
            <a:avLst/>
          </a:prstGeom>
        </p:spPr>
      </p:pic>
      <p:pic>
        <p:nvPicPr>
          <p:cNvPr id="11" name="Picture 10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F52A8589-6512-7BE3-5ABA-BC974D582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076" y="3951864"/>
            <a:ext cx="3547440" cy="2674657"/>
          </a:xfrm>
          <a:prstGeom prst="rect">
            <a:avLst/>
          </a:prstGeom>
        </p:spPr>
      </p:pic>
      <p:sp>
        <p:nvSpPr>
          <p:cNvPr id="12" name="Shape 2">
            <a:extLst>
              <a:ext uri="{FF2B5EF4-FFF2-40B4-BE49-F238E27FC236}">
                <a16:creationId xmlns:a16="http://schemas.microsoft.com/office/drawing/2014/main" id="{D117426D-7DD0-4366-BC47-2BA3E6CE0F0B}"/>
              </a:ext>
            </a:extLst>
          </p:cNvPr>
          <p:cNvSpPr>
            <a:spLocks/>
          </p:cNvSpPr>
          <p:nvPr/>
        </p:nvSpPr>
        <p:spPr>
          <a:xfrm>
            <a:off x="795725" y="1148088"/>
            <a:ext cx="4690675" cy="5478434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4805EB2-08CA-6AAC-BE2C-54BF0B708765}"/>
              </a:ext>
            </a:extLst>
          </p:cNvPr>
          <p:cNvSpPr/>
          <p:nvPr/>
        </p:nvSpPr>
        <p:spPr>
          <a:xfrm>
            <a:off x="973768" y="1306917"/>
            <a:ext cx="4411032" cy="518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class-wise prediction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, SVM , MLP Neural Network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performs best overall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High: 55 correct , Low: 62 correct , Medium: 58 correct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Strong for Low (60 correct), Misclassifies High → Medium (19 cases)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Neural Network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Strong for Medium (64 correct), Similar confusion: High → Medium (19 cases)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Error Pattern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individuals often predicted as Medium risk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overlap between High vs Medium features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achieves the most reliable and balanced classification, while all models struggle slightly to distinguish high-risk from medium-risk individuals.</a:t>
            </a:r>
          </a:p>
        </p:txBody>
      </p:sp>
    </p:spTree>
    <p:extLst>
      <p:ext uri="{BB962C8B-B14F-4D97-AF65-F5344CB8AC3E}">
        <p14:creationId xmlns:p14="http://schemas.microsoft.com/office/powerpoint/2010/main" val="353366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B30-750D-972F-5D14-DBAF16BB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3" y="44244"/>
            <a:ext cx="11446164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 Comparison: Random Forest vs XGBoost</a:t>
            </a:r>
          </a:p>
        </p:txBody>
      </p:sp>
      <p:pic>
        <p:nvPicPr>
          <p:cNvPr id="5" name="Picture 4" descr="A graph of a comparison of a number of blue squares&#10;&#10;AI-generated content may be incorrect.">
            <a:extLst>
              <a:ext uri="{FF2B5EF4-FFF2-40B4-BE49-F238E27FC236}">
                <a16:creationId xmlns:a16="http://schemas.microsoft.com/office/drawing/2014/main" id="{0948F4C6-30BA-EB3B-1B80-725628CCA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292" y="1309354"/>
            <a:ext cx="3806743" cy="2607358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D7D7A297-1794-693D-F1C8-F8C1CE19F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92" y="4132794"/>
            <a:ext cx="3806743" cy="2585712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925B08E3-0F07-E30F-250E-5F164E305F58}"/>
              </a:ext>
            </a:extLst>
          </p:cNvPr>
          <p:cNvSpPr>
            <a:spLocks/>
          </p:cNvSpPr>
          <p:nvPr/>
        </p:nvSpPr>
        <p:spPr>
          <a:xfrm>
            <a:off x="470063" y="1374104"/>
            <a:ext cx="6017823" cy="5171075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BA6A93D-9849-6AD7-3155-B0E4FED05927}"/>
              </a:ext>
            </a:extLst>
          </p:cNvPr>
          <p:cNvSpPr/>
          <p:nvPr/>
        </p:nvSpPr>
        <p:spPr>
          <a:xfrm>
            <a:off x="763333" y="1504354"/>
            <a:ext cx="5598196" cy="482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ensemble models for regression &amp; classification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performs best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R²: 0.889 vs 0.885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MAE: 0.159 vs 0.165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(~92%)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Classification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achieve very identical Macro F1 → balanced predictions across classes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is the best overall model for regression tasks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classification, both models are equally strong and stable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 significantly outperform traditional models 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36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468-E02F-9D3C-6507-295C07F4D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2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Comparison &amp; Selection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34F28C8E-FB04-C72D-8088-9D1569F2A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764" y="1266801"/>
            <a:ext cx="4784033" cy="2579079"/>
          </a:xfrm>
          <a:prstGeom prst="rect">
            <a:avLst/>
          </a:prstGeom>
        </p:spPr>
      </p:pic>
      <p:pic>
        <p:nvPicPr>
          <p:cNvPr id="7" name="Picture 6" descr="A graph of a number of blue rectangular bars&#10;&#10;AI-generated content may be incorrect.">
            <a:extLst>
              <a:ext uri="{FF2B5EF4-FFF2-40B4-BE49-F238E27FC236}">
                <a16:creationId xmlns:a16="http://schemas.microsoft.com/office/drawing/2014/main" id="{372507AD-EF41-4565-6FAA-57253CAFB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991" y="3918341"/>
            <a:ext cx="4313581" cy="2623892"/>
          </a:xfrm>
          <a:prstGeom prst="rect">
            <a:avLst/>
          </a:prstGeom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C75084EB-5B0D-5DFC-F582-588C81E2DDF4}"/>
              </a:ext>
            </a:extLst>
          </p:cNvPr>
          <p:cNvSpPr>
            <a:spLocks/>
          </p:cNvSpPr>
          <p:nvPr/>
        </p:nvSpPr>
        <p:spPr>
          <a:xfrm>
            <a:off x="827107" y="1449808"/>
            <a:ext cx="5597782" cy="4703439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C29AD3E-EF23-13FA-00E4-5AFE88895EB2}"/>
              </a:ext>
            </a:extLst>
          </p:cNvPr>
          <p:cNvSpPr/>
          <p:nvPr/>
        </p:nvSpPr>
        <p:spPr>
          <a:xfrm>
            <a:off x="987288" y="1639082"/>
            <a:ext cx="5292726" cy="45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best-performing models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(insurance cost prediction)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(risk tier prediction)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Performance (R²)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XGBoost: 0.889 (Best) , Random Forest: 0.885 , SVR: 0.855, Linear / Ridge: ~0.842, Lasso: 0.820 (Lowest)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Performance (Accuracy)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XGBoost: ~0.920 (Best), SVM: 0.871, MLP:0.846, Logistic Regression: 0.836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outperform all others, with XGBoost leading regression and Random Forest/XGBoost dominating classification. Overall, models deliver high accuracy with strong and stable performance across tasks.</a:t>
            </a:r>
          </a:p>
          <a:p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70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E9BE-13F2-BCBF-D5A6-23779C6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5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5140B2-A438-C96E-BCA5-2FC530DCFDCD}"/>
              </a:ext>
            </a:extLst>
          </p:cNvPr>
          <p:cNvSpPr>
            <a:spLocks/>
          </p:cNvSpPr>
          <p:nvPr/>
        </p:nvSpPr>
        <p:spPr>
          <a:xfrm>
            <a:off x="838200" y="1494161"/>
            <a:ext cx="10314214" cy="4871068"/>
          </a:xfrm>
          <a:prstGeom prst="roundRect">
            <a:avLst>
              <a:gd name="adj" fmla="val 718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  <p:txBody>
          <a:bodyPr/>
          <a:lstStyle/>
          <a:p>
            <a:endParaRPr lang="en-US" sz="15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562350F-45DB-0ABD-7E2D-52A01F961218}"/>
              </a:ext>
            </a:extLst>
          </p:cNvPr>
          <p:cNvSpPr/>
          <p:nvPr/>
        </p:nvSpPr>
        <p:spPr>
          <a:xfrm>
            <a:off x="1238248" y="1682620"/>
            <a:ext cx="7668988" cy="4871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significantly improved model performance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 reduced skewness and stabilized predictions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captured complex patterns better than linear models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achieved highest regression performance (R² = 0.889)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XGBoost achieved highest classification accuracy (~92%)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performed well but were outperformed by ensemble methods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Smoking-related and risk-based features are strong predictors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overlap exists between High vs Medium risk categories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reduced dimensionality but slightly reduced accuracy </a:t>
            </a:r>
          </a:p>
          <a:p>
            <a:pPr algn="just">
              <a:lnSpc>
                <a:spcPct val="150000"/>
              </a:lnSpc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69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1139</Words>
  <Application>Microsoft Macintosh PowerPoint</Application>
  <PresentationFormat>Widescreen</PresentationFormat>
  <Paragraphs>157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Roboto Light</vt:lpstr>
      <vt:lpstr>Times New Roman</vt:lpstr>
      <vt:lpstr>Office Theme</vt:lpstr>
      <vt:lpstr>Predicting Healthcare Insurance costs and Risk Categories Using Machine Learning </vt:lpstr>
      <vt:lpstr>Introduction, Purpose &amp; Aim</vt:lpstr>
      <vt:lpstr>Data Preparation &amp; Initial Inspection</vt:lpstr>
      <vt:lpstr>Exploratory Data Analysis (EDA)</vt:lpstr>
      <vt:lpstr>Feature Relationships </vt:lpstr>
      <vt:lpstr>Handling Skewness: Log Transformation</vt:lpstr>
      <vt:lpstr>Feature Engineering &amp; Modeling Setup</vt:lpstr>
      <vt:lpstr>Principal Component Analysis (PCA) Dimensionality Reduction </vt:lpstr>
      <vt:lpstr>Regression Model Performance</vt:lpstr>
      <vt:lpstr>Classification Model Performance</vt:lpstr>
      <vt:lpstr>Model Performance – Confusion Matrix Analysis </vt:lpstr>
      <vt:lpstr>Advanced Model Comparison: Random Forest vs XGBoost</vt:lpstr>
      <vt:lpstr>Final Model Comparison &amp; Selection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Aryal, Shreeyukta</dc:creator>
  <cp:lastModifiedBy>Aryal, Shreeyukta</cp:lastModifiedBy>
  <cp:revision>18</cp:revision>
  <dcterms:created xsi:type="dcterms:W3CDTF">2026-05-02T16:31:31Z</dcterms:created>
  <dcterms:modified xsi:type="dcterms:W3CDTF">2026-05-11T23:28:24Z</dcterms:modified>
</cp:coreProperties>
</file>